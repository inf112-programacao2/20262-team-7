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84886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84886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848868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NF112-Programacao2/20262-team-7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INF 112 · PROGRAMAÇÃO II · PROPOSTA DO TRABALHO FINAL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60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i="0" spc="-100" kern="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Tower Defense </a:t>
            </a:r>
            <a:r>
              <a:rPr lang="en-US" sz="7200" b="1" i="0" spc="-100" kern="0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UFV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800" y="2245360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Figuras da vida universitária defendem o núcleo contra as ameaças do semestre, no estilo </a:t>
            </a:r>
            <a:r>
              <a:rPr lang="en-US" sz="2000" i="1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Plants vs. Zombies</a:t>
            </a:r>
            <a:r>
              <a:rPr lang="en-US" sz="20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2000" dirty="0"/>
          </a:p>
        </p:txBody>
      </p:sp>
      <p:pic>
        <p:nvPicPr>
          <p:cNvPr id="5" name="Image 0" descr="Faixa de tabuleiro: o núcleo à esquerda, quatro defensores disparando projéteis e inimigos chegando pela direita">    </p:cNvPr>
          <p:cNvPicPr>
            <a:picLocks noChangeAspect="1"/>
          </p:cNvPicPr>
          <p:nvPr/>
        </p:nvPicPr>
        <p:blipFill>
          <a:blip r:embed="rId1"/>
          <a:srcRect l="-104" r="-104" t="0" b="0"/>
          <a:stretch/>
        </p:blipFill>
        <p:spPr>
          <a:xfrm>
            <a:off x="812800" y="3696970"/>
            <a:ext cx="105664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224780"/>
            <a:ext cx="63312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GRUPO 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5514340"/>
            <a:ext cx="31394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Denyse Freitas Santos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11600" y="5514340"/>
            <a:ext cx="31394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Gustavo Lopes Pimenta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5805170"/>
            <a:ext cx="31394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Luisa Sousa Sarti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11600" y="5805170"/>
            <a:ext cx="313944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Pedro Henrique Marques Lucas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85908" y="5284470"/>
            <a:ext cx="11932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PROFESSOR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48192" y="5548630"/>
            <a:ext cx="273100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Julio Cesar Soares dos Reis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239248" y="5839460"/>
            <a:ext cx="113995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UFV · 2026/2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874334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O jogo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6040"/>
            <a:ext cx="874334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jogador posiciona defensores para proteger o núcleo de ondas de inimigos.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6280" y="952500"/>
            <a:ext cx="8839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ONDA 1/5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41000" y="995680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7251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029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807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585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pic>
        <p:nvPicPr>
          <p:cNvPr id="10" name="Image 0" descr="Tabuleiro com três linhas: o núcleo à esquerda, defensores nas primeiras colunas disparando projéteis e inimigos avançando pela direita">    </p:cNvPr>
          <p:cNvPicPr>
            <a:picLocks noChangeAspect="1"/>
          </p:cNvPicPr>
          <p:nvPr/>
        </p:nvPicPr>
        <p:blipFill>
          <a:blip r:embed="rId1"/>
          <a:srcRect l="0" r="0" t="-27" b="-27"/>
          <a:stretch/>
        </p:blipFill>
        <p:spPr>
          <a:xfrm>
            <a:off x="812800" y="2172970"/>
            <a:ext cx="10566400" cy="2235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7400" y="1880870"/>
            <a:ext cx="762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NÚCLEO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27200" y="188087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DEFENSORES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54900" y="188087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FF8A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← ONDAS DE INIMIGOS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9150" y="4719320"/>
            <a:ext cx="3373914" cy="118618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6160" y="4964430"/>
            <a:ext cx="152400" cy="1524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4900930"/>
            <a:ext cx="17800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Defensores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026160" y="5243830"/>
            <a:ext cx="304869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Figuras da UFV posicionadas em células livres.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08964" y="4719320"/>
            <a:ext cx="3373993" cy="118618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15974" y="4964430"/>
            <a:ext cx="152400" cy="152400"/>
          </a:xfrm>
          <a:prstGeom prst="rect">
            <a:avLst/>
          </a:prstGeom>
          <a:solidFill>
            <a:srgbClr val="FFD23F"/>
          </a:solidFill>
          <a:ln/>
        </p:spPr>
      </p:sp>
      <p:sp>
        <p:nvSpPr>
          <p:cNvPr id="20" name="Text 17"/>
          <p:cNvSpPr/>
          <p:nvPr/>
        </p:nvSpPr>
        <p:spPr>
          <a:xfrm>
            <a:off x="4869974" y="4900930"/>
            <a:ext cx="1834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Fichas do RU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15974" y="5243830"/>
            <a:ext cx="3048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Pagam os defensores e vêm de inimigos derrotados.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98857" y="4719320"/>
            <a:ext cx="3373993" cy="118618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05867" y="4964430"/>
            <a:ext cx="152400" cy="1524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24" name="Text 21"/>
          <p:cNvSpPr/>
          <p:nvPr/>
        </p:nvSpPr>
        <p:spPr>
          <a:xfrm>
            <a:off x="8459867" y="4900930"/>
            <a:ext cx="9204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Ondas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205867" y="5243830"/>
            <a:ext cx="3048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Cada onda é mais forte; segure a última para vencer.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874334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Herança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6041"/>
            <a:ext cx="874334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Todo personagem é uma Entidade: herda posição, vida e o método atualizar().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6280" y="952500"/>
            <a:ext cx="8839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ONDA 2/5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41000" y="995680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718800" y="995680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Shape 5"/>
          <p:cNvSpPr/>
          <p:nvPr/>
        </p:nvSpPr>
        <p:spPr>
          <a:xfrm>
            <a:off x="109029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807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585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pic>
        <p:nvPicPr>
          <p:cNvPr id="10" name="Image 0" descr="Linhas de herança: Defensor e Inimigo herdam de Entidade; os quatro defensores herdam de Defensor e os três inimigos herdam de Inimigo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812800" y="1880870"/>
            <a:ext cx="10566400" cy="4064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070350" y="1887220"/>
            <a:ext cx="4051300" cy="647700"/>
          </a:xfrm>
          <a:prstGeom prst="rect">
            <a:avLst/>
          </a:prstGeom>
          <a:solidFill>
            <a:srgbClr val="1C2340"/>
          </a:solidFill>
          <a:ln w="12700">
            <a:solidFill>
              <a:srgbClr val="A7B0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7480" y="1967230"/>
            <a:ext cx="9042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i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Entidade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67120" y="1997711"/>
            <a:ext cx="944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«abstrata»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3104" y="2241550"/>
            <a:ext cx="2145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posição, vida e atualizar()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9150" y="3055620"/>
            <a:ext cx="3797300" cy="647700"/>
          </a:xfrm>
          <a:prstGeom prst="rect">
            <a:avLst/>
          </a:prstGeom>
          <a:solidFill>
            <a:srgbClr val="1C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59280" y="3135630"/>
            <a:ext cx="9042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i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Defensor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88920" y="3166111"/>
            <a:ext cx="944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«abstrata»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75384" y="3409950"/>
            <a:ext cx="20848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custo, recarga e alcance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03950" y="3055620"/>
            <a:ext cx="3797300" cy="647700"/>
          </a:xfrm>
          <a:prstGeom prst="rect">
            <a:avLst/>
          </a:prstGeom>
          <a:solidFill>
            <a:srgbClr val="1C2340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97420" y="3135630"/>
            <a:ext cx="797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i="1" dirty="0">
                <a:solidFill>
                  <a:srgbClr val="FF8A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Inimigo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0380" y="3166111"/>
            <a:ext cx="9448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«abstrata»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1480" y="3409950"/>
            <a:ext cx="2682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velocidade, dano e recompensa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530350" y="40208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86560" y="4093211"/>
            <a:ext cx="241736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EstudanteDeInformatica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160520" y="4110991"/>
            <a:ext cx="1414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dispara projéteis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530350" y="45034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86560" y="4575811"/>
            <a:ext cx="19778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ProfessorDeCalculo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733800" y="4593591"/>
            <a:ext cx="2048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dano alto, recarga longa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530350" y="49860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86560" y="5058411"/>
            <a:ext cx="154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MonitorDaTurma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307080" y="5076191"/>
            <a:ext cx="21884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fortalece ou cura vizinhos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530350" y="54686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86560" y="5541011"/>
            <a:ext cx="154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CozinheiroDoRU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307080" y="5558791"/>
            <a:ext cx="14752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gera fichas do RU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915150" y="40208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71360" y="4093211"/>
            <a:ext cx="1437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8A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ProvaSurpresa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585200" y="4110991"/>
            <a:ext cx="11582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rápida e frágil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915150" y="45034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71360" y="4575811"/>
            <a:ext cx="154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8A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PrazoDeEntrega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691880" y="4593591"/>
            <a:ext cx="21214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velocidade e vida médias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915150" y="4986020"/>
            <a:ext cx="4457700" cy="3937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71360" y="5058411"/>
            <a:ext cx="111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8A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Reprovacao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265160" y="5076191"/>
            <a:ext cx="26029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chefe: lenta e muito resistente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188200" y="552577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herda 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874334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Polimorfismo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6041"/>
            <a:ext cx="874334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Partida faz a mesma chamada para todos; cada classe responde do seu jeito.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6280" y="952500"/>
            <a:ext cx="8839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ONDA 3/5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41000" y="995680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718800" y="995680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Shape 5"/>
          <p:cNvSpPr/>
          <p:nvPr/>
        </p:nvSpPr>
        <p:spPr>
          <a:xfrm>
            <a:off x="10896600" y="995680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8" name="Shape 6"/>
          <p:cNvSpPr/>
          <p:nvPr/>
        </p:nvSpPr>
        <p:spPr>
          <a:xfrm>
            <a:off x="110807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58550" y="1002030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150" y="2776220"/>
            <a:ext cx="4305300" cy="2273300"/>
          </a:xfrm>
          <a:prstGeom prst="rect">
            <a:avLst/>
          </a:prstGeom>
          <a:solidFill>
            <a:srgbClr val="0E1222"/>
          </a:solidFill>
          <a:ln w="12700">
            <a:solidFill>
              <a:srgbClr val="3A4675"/>
            </a:solidFill>
            <a:prstDash val="solid"/>
          </a:ln>
        </p:spPr>
        <p:txBody>
          <a:bodyPr wrap="square" lIns="257810" tIns="336550" rIns="144120" bIns="31115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E98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Entidade (classe abstrata)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virtual void</a:t>
            </a:r>
            <a:r>
              <a:rPr lang="en-US" sz="1400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atualizar</a:t>
            </a:r>
            <a:r>
              <a:rPr lang="en-US" sz="1400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= 0;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E98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Partida, a cada passo de tempo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400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(Entidade* e : entidades)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e-&gt;</a:t>
            </a:r>
            <a:r>
              <a:rPr lang="en-US" sz="14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atualizar</a:t>
            </a:r>
            <a:r>
              <a:rPr lang="en-US" sz="1400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53150" y="1887220"/>
            <a:ext cx="5219700" cy="5969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0160" y="2061211"/>
            <a:ext cx="2616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EstudanteDeInformatica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061211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dispara um projétil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150" y="2750820"/>
            <a:ext cx="5219700" cy="5969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0160" y="2924811"/>
            <a:ext cx="2616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ProfessorDeCalculo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924811"/>
            <a:ext cx="156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causa dano alto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53150" y="3614420"/>
            <a:ext cx="5219700" cy="5969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0160" y="3788411"/>
            <a:ext cx="2616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MonitorDaTurma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3788411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cura os vizinhos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150" y="4478020"/>
            <a:ext cx="5219700" cy="5969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0160" y="4652011"/>
            <a:ext cx="2616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FC3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CozinheiroDoRU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4652011"/>
            <a:ext cx="173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gera fichas do RU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53150" y="5341620"/>
            <a:ext cx="5219700" cy="5969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0160" y="5515611"/>
            <a:ext cx="2616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8A4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ProvaSurpresa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0" y="5515611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avança rápido</a:t>
            </a:r>
            <a:endParaRPr lang="en-US" sz="1400" dirty="0"/>
          </a:p>
        </p:txBody>
      </p:sp>
      <p:pic>
        <p:nvPicPr>
          <p:cNvPr id="2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80000" y="3862070"/>
            <a:ext cx="609600" cy="101600"/>
          </a:xfrm>
          <a:prstGeom prst="rect">
            <a:avLst/>
          </a:prstGeom>
        </p:spPr>
      </p:pic>
      <p:pic>
        <p:nvPicPr>
          <p:cNvPr id="2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8000" y="2134870"/>
            <a:ext cx="101600" cy="3556000"/>
          </a:xfrm>
          <a:prstGeom prst="rect">
            <a:avLst/>
          </a:prstGeom>
        </p:spPr>
      </p:pic>
      <p:pic>
        <p:nvPicPr>
          <p:cNvPr id="2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88000" y="2134870"/>
            <a:ext cx="609600" cy="101600"/>
          </a:xfrm>
          <a:prstGeom prst="rect">
            <a:avLst/>
          </a:prstGeom>
        </p:spPr>
      </p:pic>
      <p:pic>
        <p:nvPicPr>
          <p:cNvPr id="2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88000" y="2998470"/>
            <a:ext cx="609600" cy="101600"/>
          </a:xfrm>
          <a:prstGeom prst="rect">
            <a:avLst/>
          </a:prstGeom>
        </p:spPr>
      </p:pic>
      <p:pic>
        <p:nvPicPr>
          <p:cNvPr id="30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88000" y="3862070"/>
            <a:ext cx="609600" cy="101600"/>
          </a:xfrm>
          <a:prstGeom prst="rect">
            <a:avLst/>
          </a:prstGeom>
        </p:spPr>
      </p:pic>
      <p:pic>
        <p:nvPicPr>
          <p:cNvPr id="31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88000" y="4725670"/>
            <a:ext cx="609600" cy="101600"/>
          </a:xfrm>
          <a:prstGeom prst="rect">
            <a:avLst/>
          </a:prstGeom>
        </p:spPr>
      </p:pic>
      <p:pic>
        <p:nvPicPr>
          <p:cNvPr id="32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588000" y="5589271"/>
            <a:ext cx="6096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874334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Modos de operação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6039"/>
            <a:ext cx="874334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Os dois modos usam a mesma Partida; só mudam a entrada e a saída.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6280" y="952500"/>
            <a:ext cx="8839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ONDA 4/5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410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7188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Shape 5"/>
          <p:cNvSpPr/>
          <p:nvPr/>
        </p:nvSpPr>
        <p:spPr>
          <a:xfrm>
            <a:off x="108966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8" name="Shape 6"/>
          <p:cNvSpPr/>
          <p:nvPr/>
        </p:nvSpPr>
        <p:spPr>
          <a:xfrm>
            <a:off x="110744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9" name="Shape 7"/>
          <p:cNvSpPr/>
          <p:nvPr/>
        </p:nvSpPr>
        <p:spPr>
          <a:xfrm>
            <a:off x="11258550" y="1002032"/>
            <a:ext cx="114300" cy="114300"/>
          </a:xfrm>
          <a:prstGeom prst="rect">
            <a:avLst/>
          </a:prstGeom>
          <a:noFill/>
          <a:ln w="12700">
            <a:solidFill>
              <a:srgbClr val="3A46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1880871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ENTRADA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45000" y="1880871"/>
            <a:ext cx="3401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NÚCLEO COMPARTILHADO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85200" y="1880871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SAÍDA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150" y="2192021"/>
            <a:ext cx="2781300" cy="17653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6160" y="2399032"/>
            <a:ext cx="2438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Interativo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6160" y="2741932"/>
            <a:ext cx="2438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ModoInterativo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6160" y="3018789"/>
            <a:ext cx="243829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partida em tempo real, jogada com o mouse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150" y="4173221"/>
            <a:ext cx="2781300" cy="17653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6160" y="4380232"/>
            <a:ext cx="2438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Headless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26160" y="4723132"/>
            <a:ext cx="24382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ModoHeadless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6160" y="4999989"/>
            <a:ext cx="243829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lê a fase e os comandos de um arquivo de entrada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54525" y="2195196"/>
            <a:ext cx="3282950" cy="3740150"/>
          </a:xfrm>
          <a:prstGeom prst="rect">
            <a:avLst/>
          </a:prstGeom>
          <a:solidFill>
            <a:srgbClr val="222B4D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4240" y="2840989"/>
            <a:ext cx="28464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Partida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4240" y="3285489"/>
            <a:ext cx="2846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 mesmas regras nos dois modos</a:t>
            </a:r>
            <a:endParaRPr lang="en-US" sz="1400" dirty="0"/>
          </a:p>
        </p:txBody>
      </p:sp>
      <p:pic>
        <p:nvPicPr>
          <p:cNvPr id="24" name="Image 0" descr="line">    </p:cNvPr>
          <p:cNvPicPr>
            <a:picLocks noChangeAspect="1"/>
          </p:cNvPicPr>
          <p:nvPr/>
        </p:nvPicPr>
        <p:blipFill>
          <a:blip r:embed="rId1"/>
          <a:srcRect l="-24" r="-24" t="0" b="0"/>
          <a:stretch/>
        </p:blipFill>
        <p:spPr>
          <a:xfrm>
            <a:off x="4714240" y="3854450"/>
            <a:ext cx="2763520" cy="12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14240" y="3956050"/>
            <a:ext cx="2846426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Tabuleiro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GerenciadorDeOndas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Economia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Nucleo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Fase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591550" y="2192021"/>
            <a:ext cx="2781300" cy="17653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98560" y="2399032"/>
            <a:ext cx="2438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Janela SFML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798560" y="2741932"/>
            <a:ext cx="243829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desenha o tabuleiro, as fichas, a onda e a vida do núcleo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91550" y="4173221"/>
            <a:ext cx="2781300" cy="176530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98560" y="4380232"/>
            <a:ext cx="24382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Relatório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798560" y="4723132"/>
            <a:ext cx="243829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log e estatísticas finais, gravados em arquivo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798560" y="5266689"/>
            <a:ext cx="2438299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mesma entrada, mesma saída</a:t>
            </a:r>
            <a:endParaRPr lang="en-US" sz="1200" dirty="0"/>
          </a:p>
        </p:txBody>
      </p:sp>
      <p:pic>
        <p:nvPicPr>
          <p:cNvPr id="3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56000" y="3023871"/>
            <a:ext cx="939800" cy="101600"/>
          </a:xfrm>
          <a:prstGeom prst="rect">
            <a:avLst/>
          </a:prstGeom>
        </p:spPr>
      </p:pic>
      <p:pic>
        <p:nvPicPr>
          <p:cNvPr id="3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56000" y="5005071"/>
            <a:ext cx="939800" cy="101600"/>
          </a:xfrm>
          <a:prstGeom prst="rect">
            <a:avLst/>
          </a:prstGeom>
        </p:spPr>
      </p:pic>
      <p:pic>
        <p:nvPicPr>
          <p:cNvPr id="3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96200" y="3023871"/>
            <a:ext cx="939800" cy="101600"/>
          </a:xfrm>
          <a:prstGeom prst="rect">
            <a:avLst/>
          </a:prstGeom>
        </p:spPr>
      </p:pic>
      <p:pic>
        <p:nvPicPr>
          <p:cNvPr id="36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96200" y="5005071"/>
            <a:ext cx="9398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8743341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EFE4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Conceitos de POO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6039"/>
            <a:ext cx="874334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Onde cada conceito da disciplina aparece no projeto.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6280" y="952500"/>
            <a:ext cx="8839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ONDA 5/5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410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7188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7" name="Shape 5"/>
          <p:cNvSpPr/>
          <p:nvPr/>
        </p:nvSpPr>
        <p:spPr>
          <a:xfrm>
            <a:off x="108966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8" name="Shape 6"/>
          <p:cNvSpPr/>
          <p:nvPr/>
        </p:nvSpPr>
        <p:spPr>
          <a:xfrm>
            <a:off x="110744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9" name="Shape 7"/>
          <p:cNvSpPr/>
          <p:nvPr/>
        </p:nvSpPr>
        <p:spPr>
          <a:xfrm>
            <a:off x="11252200" y="995682"/>
            <a:ext cx="127000" cy="127000"/>
          </a:xfrm>
          <a:prstGeom prst="rect">
            <a:avLst/>
          </a:prstGeom>
          <a:solidFill>
            <a:srgbClr val="FF8A4C"/>
          </a:solidFill>
          <a:ln/>
        </p:spPr>
      </p:sp>
      <p:sp>
        <p:nvSpPr>
          <p:cNvPr id="10" name="Shape 8"/>
          <p:cNvSpPr/>
          <p:nvPr/>
        </p:nvSpPr>
        <p:spPr>
          <a:xfrm>
            <a:off x="819150" y="1887221"/>
            <a:ext cx="3373914" cy="1539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160" y="2094232"/>
            <a:ext cx="3048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Abstração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6160" y="2449832"/>
            <a:ext cx="30486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Entidade · Defensor · Inimigo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6160" y="2739389"/>
            <a:ext cx="304869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classes abstratas definem o contrato das subclasses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08964" y="1887221"/>
            <a:ext cx="3373993" cy="1539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5974" y="2094232"/>
            <a:ext cx="30487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Encapsulamento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5974" y="2449832"/>
            <a:ext cx="30487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Economia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5974" y="2739389"/>
            <a:ext cx="3048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só ela altera o saldo, que nunca fica negativo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98857" y="1887221"/>
            <a:ext cx="3373993" cy="1539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5867" y="2094232"/>
            <a:ext cx="30487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Herança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05867" y="2449832"/>
            <a:ext cx="30487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Defensor · Inimigo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5867" y="2739389"/>
            <a:ext cx="3048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defensores e 3 inimigos, todos derivados de Entidade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9150" y="3642361"/>
            <a:ext cx="3373914" cy="1539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6160" y="3849371"/>
            <a:ext cx="3048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Polimorfismo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26160" y="4204971"/>
            <a:ext cx="30486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virtual atualizar()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6160" y="4494532"/>
            <a:ext cx="304869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cada personagem implementa a sua própria ação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08964" y="3642361"/>
            <a:ext cx="3373993" cy="1539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5974" y="3849371"/>
            <a:ext cx="30487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Modularidade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15974" y="4204971"/>
            <a:ext cx="30487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FabricaDeEntidades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5974" y="4494532"/>
            <a:ext cx="3048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cria personagens pelo nome, para a GUI e os arquivos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98857" y="3642361"/>
            <a:ext cx="3373993" cy="1539240"/>
          </a:xfrm>
          <a:prstGeom prst="rect">
            <a:avLst/>
          </a:prstGeom>
          <a:solidFill>
            <a:srgbClr val="1C2340"/>
          </a:solidFill>
          <a:ln w="12700">
            <a:solidFill>
              <a:srgbClr val="2B3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5867" y="3849371"/>
            <a:ext cx="30487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Pixelify Sans" pitchFamily="34" charset="0"/>
                <a:ea typeface="Pixelify Sans" pitchFamily="34" charset="-122"/>
                <a:cs typeface="Pixelify Sans" pitchFamily="34" charset="-120"/>
              </a:rPr>
              <a:t>Exceções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05867" y="4204971"/>
            <a:ext cx="30487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ExcecaoDoJogo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05867" y="4494532"/>
            <a:ext cx="3048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7B0C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erros de posição, saldo e arquivo sem fechar o jogo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39"/>
            <a:ext cx="25237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C++ · SFML · Git/GitHub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60896" y="6238239"/>
            <a:ext cx="47183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A7B0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github.com/INF112-Programacao2/20262-team-7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wer Defense UFV — Proposta do Grupo 7">
  <a:themeElements>
    <a:clrScheme name="Tower Defense UFV — Proposta do Grupo 7">
      <a:dk1>
        <a:srgbClr val="141A2E"/>
      </a:dk1>
      <a:lt1>
        <a:srgbClr val="F3EFE4"/>
      </a:lt1>
      <a:dk2>
        <a:srgbClr val="2A2F40"/>
      </a:dk2>
      <a:lt2>
        <a:srgbClr val="BBBAB7"/>
      </a:lt2>
      <a:accent1>
        <a:srgbClr val="A7B0CF"/>
      </a:accent1>
      <a:accent2>
        <a:srgbClr val="FF8A4C"/>
      </a:accent2>
      <a:accent3>
        <a:srgbClr val="4FC3F7"/>
      </a:accent3>
      <a:accent4>
        <a:srgbClr val="FFD23F"/>
      </a:accent4>
      <a:accent5>
        <a:srgbClr val="222B4D"/>
      </a:accent5>
      <a:accent6>
        <a:srgbClr val="1F2A55"/>
      </a:accent6>
      <a:hlink>
        <a:srgbClr val="0563C1"/>
      </a:hlink>
      <a:folHlink>
        <a:srgbClr val="954F72"/>
      </a:folHlink>
    </a:clrScheme>
    <a:fontScheme name="Tower Defense UFV — Proposta do Grupo 7">
      <a:majorFont>
        <a:latin typeface="Pixelify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Tower Defense UFV — Proposta do Grupo 7</dc:title>
  <dc:subject/>
  <dc:creator/>
  <cp:lastModifiedBy/>
  <cp:revision>1</cp:revision>
  <dcterms:created xsi:type="dcterms:W3CDTF">2026-10-05T22:04:04Z</dcterms:created>
  <dcterms:modified xsi:type="dcterms:W3CDTF">2026-10-05T22:04:04Z</dcterms:modified>
</cp:coreProperties>
</file>